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-629" y="42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3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GOOGLE PLAY STORE: END-TO-END EDA &amp; MULTI-BI ANALYTICS SUITE</a:t>
            </a:r>
          </a:p>
          <a:p>
            <a:pPr>
              <a:defRPr sz="1150">
                <a:solidFill>
                  <a:srgbClr val="F59E0B"/>
                </a:solidFill>
              </a:defRPr>
            </a:pPr>
            <a:r>
              <a:t>Updated Portfolio Submission | Python EDA, Power BI DAX (4-Chart + 5-KPI Matrix) &amp; Tableau Executive KPIs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52647" y="1152143"/>
            <a:ext cx="5486400" cy="512064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502152" y="1408175"/>
            <a:ext cx="5157216" cy="4864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F59E0B"/>
                </a:solidFill>
              </a:defRPr>
            </a:pPr>
            <a:r>
              <a:t>1. Business Problem &amp; Analytical Scope</a:t>
            </a:r>
          </a:p>
          <a:p>
            <a:pPr>
              <a:spcBef>
                <a:spcPts val="600"/>
              </a:spcBef>
              <a:defRPr sz="1150">
                <a:solidFill>
                  <a:srgbClr val="E2E8F0"/>
                </a:solidFill>
              </a:defRPr>
            </a:pPr>
            <a:r>
              <a:t>• Objective: Maximize developer net payout, reduce 30-day uninstall churn, and identify Blue Ocean app categories across 9,658 verified Google Play Store applications.</a:t>
            </a:r>
          </a:p>
          <a:p>
            <a:pPr>
              <a:spcBef>
                <a:spcPts val="600"/>
              </a:spcBef>
              <a:defRPr sz="1150">
                <a:solidFill>
                  <a:srgbClr val="E2E8F0"/>
                </a:solidFill>
              </a:defRPr>
            </a:pPr>
            <a:r>
              <a:t>• Dataset Audit: Cleaned 10,841 raw records -&gt; removed 483 duplicates -&gt; imputed 1,474 missing ratings via category medians -&gt; normalized APK payload &amp; pricing strings.</a:t>
            </a:r>
          </a:p>
          <a:p>
            <a:pPr>
              <a:spcBef>
                <a:spcPts val="600"/>
              </a:spcBef>
              <a:defRPr sz="1150">
                <a:solidFill>
                  <a:srgbClr val="E2E8F0"/>
                </a:solidFill>
              </a:defRPr>
            </a:pPr>
            <a:r>
              <a:t>• Key Bottlenecks Solved: High 30d uninstall rate (46.2%) in &gt;80MB APKs, severe conversion drop (-68%) above the $2.99 price wall, and high market concentration (Gini = 0.78).</a:t>
            </a:r>
          </a:p>
          <a:p>
            <a:pPr>
              <a:spcBef>
                <a:spcPts val="600"/>
              </a:spcBef>
              <a:defRPr sz="1150">
                <a:solidFill>
                  <a:srgbClr val="E2E8F0"/>
                </a:solidFill>
              </a:defRPr>
            </a:pPr>
            <a:r>
              <a:t>• Presenter: Suresh Kumar Shah | Data Analytics &amp; BI Portfolio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31C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1. PYTHON EXPLORATORY DATA ANALYSIS (EDA) VISUAL REPORT</a:t>
            </a:r>
          </a:p>
          <a:p>
            <a:pPr>
              <a:defRPr sz="1150">
                <a:solidFill>
                  <a:srgbClr val="38BDF8"/>
                </a:solidFill>
              </a:defRPr>
            </a:pPr>
            <a:r>
              <a:t>Data Cleaning Pipeline, IQR Outlier Treatment, Multivariate Correlation Matrix &amp; Statistical Hypothesis Testing</a:t>
            </a:r>
          </a:p>
        </p:txBody>
      </p:sp>
      <p:pic>
        <p:nvPicPr>
          <p:cNvPr id="4" name="Picture 3" descr="1_Python_EDA_PlayStore_Proje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11548872" cy="70868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3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2. POWER BI DASHBOARD (UPDATED: 5 KPIs + 4 CHARTS + 1 MATRIX TABLE)</a:t>
            </a:r>
          </a:p>
          <a:p>
            <a:pPr>
              <a:defRPr sz="1150">
                <a:solidFill>
                  <a:srgbClr val="F59E0B"/>
                </a:solidFill>
              </a:defRPr>
            </a:pPr>
            <a:r>
              <a:t>Star-Schema DAX Intelligence: Revenue Bridge, APK Payload Friction, Quarterly Velocity &amp; Cohort LTV/CAC</a:t>
            </a:r>
          </a:p>
        </p:txBody>
      </p:sp>
      <p:pic>
        <p:nvPicPr>
          <p:cNvPr id="4" name="Picture 3" descr="2_PowerBI_PlayStore_Dashboard_Updat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11548872" cy="70868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31C2E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3. TABLEAU DASHBOARD (UPDATED: 6 EXECUTIVE KPIs + 4 STRATEGIC CHARTS)</a:t>
            </a:r>
          </a:p>
          <a:p>
            <a:pPr>
              <a:defRPr sz="1150">
                <a:solidFill>
                  <a:srgbClr val="EA580C"/>
                </a:solidFill>
              </a:defRPr>
            </a:pPr>
            <a:r>
              <a:t>Top KPI Scorecard (BANs), Blue Ocean Quadrant, IQR Rating Box-Plots, Price-Rating Heatmap &amp; Yield Lollipop</a:t>
            </a:r>
          </a:p>
        </p:txBody>
      </p:sp>
      <p:pic>
        <p:nvPicPr>
          <p:cNvPr id="4" name="Picture 3" descr="3_Tableau_PlayStore_Dashboard_Updat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11548872" cy="70868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3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4. EXECUTIVE INSIGHTS &amp; ACTIONABLE BUSINESS RECOMMENDATIONS</a:t>
            </a:r>
          </a:p>
          <a:p>
            <a:pPr>
              <a:defRPr sz="1150">
                <a:solidFill>
                  <a:srgbClr val="10B981"/>
                </a:solidFill>
              </a:defRPr>
            </a:pPr>
            <a:r>
              <a:t>Synthesis of Python EDA, Power BI DAX Monetization &amp; Tableau Quadrant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3657600" cy="521208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362456"/>
            <a:ext cx="3328416" cy="4956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F59E0B"/>
                </a:solidFill>
              </a:defRPr>
            </a:pPr>
            <a:r>
              <a:t>Monetization &amp; Pricing Strategy</a:t>
            </a:r>
          </a:p>
          <a:p>
            <a:pPr>
              <a:spcBef>
                <a:spcPts val="600"/>
              </a:spcBef>
              <a:defRPr sz="1150">
                <a:solidFill>
                  <a:srgbClr val="E2E8F0"/>
                </a:solidFill>
              </a:defRPr>
            </a:pPr>
            <a:r>
              <a:t>• Gross-to-Net Efficiency: Out of $48.24M Gross Revenue, In-App Purchases drive 81.1% ($39.10M) while Net Developer Payout reaches $41.00M after the 15% store cut.</a:t>
            </a:r>
          </a:p>
          <a:p>
            <a:pPr>
              <a:spcBef>
                <a:spcPts val="600"/>
              </a:spcBef>
              <a:defRPr sz="1150">
                <a:solidFill>
                  <a:srgbClr val="E2E8F0"/>
                </a:solidFill>
              </a:defRPr>
            </a:pPr>
            <a:r>
              <a:t>• Price Wall Optimization: Demand drops by 68% above $2.99. Developers should adopt Free/Freemium entry or price between $0.99-$2.99 paired with recurring subscriptions.</a:t>
            </a:r>
          </a:p>
          <a:p>
            <a:pPr>
              <a:spcBef>
                <a:spcPts val="600"/>
              </a:spcBef>
              <a:defRPr sz="1150">
                <a:solidFill>
                  <a:srgbClr val="E2E8F0"/>
                </a:solidFill>
              </a:defRPr>
            </a:pPr>
            <a:r>
              <a:t>• QoQ Growth Momentum: Subscription tiers grew +24.1% YoY in Q4'26, outperforming static paid downloads.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234440"/>
            <a:ext cx="3657600" cy="521208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16552" y="1362456"/>
            <a:ext cx="3328416" cy="4956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38BDF8"/>
                </a:solidFill>
              </a:defRPr>
            </a:pPr>
            <a:r>
              <a:t>Product &amp; Engineering (APK &amp; Churn)</a:t>
            </a:r>
          </a:p>
          <a:p>
            <a:pPr>
              <a:spcBef>
                <a:spcPts val="600"/>
              </a:spcBef>
              <a:defRPr sz="1150">
                <a:solidFill>
                  <a:srgbClr val="E2E8F0"/>
                </a:solidFill>
              </a:defRPr>
            </a:pPr>
            <a:r>
              <a:t>• APK Payload Threshold: Apps under 25MB achieve 28.6%-34.2% store conversion with only 18%-21.5% uninstall rates.</a:t>
            </a:r>
          </a:p>
          <a:p>
            <a:pPr>
              <a:spcBef>
                <a:spcPts val="600"/>
              </a:spcBef>
              <a:defRPr sz="1150">
                <a:solidFill>
                  <a:srgbClr val="E2E8F0"/>
                </a:solidFill>
              </a:defRPr>
            </a:pPr>
            <a:r>
              <a:t>• Critical 50MB Cliff: Crossing 50MB spikes 30-day uninstalls to 38.4% (and 46.2% above 80MB).</a:t>
            </a:r>
          </a:p>
          <a:p>
            <a:pPr>
              <a:spcBef>
                <a:spcPts val="600"/>
              </a:spcBef>
              <a:defRPr sz="1150">
                <a:solidFill>
                  <a:srgbClr val="E2E8F0"/>
                </a:solidFill>
              </a:defRPr>
            </a:pPr>
            <a:r>
              <a:t>• Action Plan: Modularize assets via Android App Bundles (AAB) and dynamic feature delivery to keep initial downloads below 25MB.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234440"/>
            <a:ext cx="3657600" cy="521208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02752" y="1362456"/>
            <a:ext cx="3328416" cy="4956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0B981"/>
                </a:solidFill>
              </a:defRPr>
            </a:pPr>
            <a:r>
              <a:t>Market Positioning &amp; Unit Economics</a:t>
            </a:r>
          </a:p>
          <a:p>
            <a:pPr>
              <a:spcBef>
                <a:spcPts val="600"/>
              </a:spcBef>
              <a:defRPr sz="1150">
                <a:solidFill>
                  <a:srgbClr val="E2E8F0"/>
                </a:solidFill>
              </a:defRPr>
            </a:pPr>
            <a:r>
              <a:t>• Blue Ocean Target Verticals: Productivity B2B ($4.90M rev, +28.4% YoY) and Finance/Health show high LTV/CAC (3.42x-3.94x) with low category crowding (&lt;450 apps).</a:t>
            </a:r>
          </a:p>
          <a:p>
            <a:pPr>
              <a:spcBef>
                <a:spcPts val="600"/>
              </a:spcBef>
              <a:defRPr sz="1150">
                <a:solidFill>
                  <a:srgbClr val="E2E8F0"/>
                </a:solidFill>
              </a:defRPr>
            </a:pPr>
            <a:r>
              <a:t>• Avoid Red Ocean Trap: Family &amp; EdTech (1,972 apps) suffers from high CAC and saturation unless differentiated by B2B licensing.</a:t>
            </a:r>
          </a:p>
          <a:p>
            <a:pPr>
              <a:spcBef>
                <a:spcPts val="600"/>
              </a:spcBef>
              <a:defRPr sz="1150">
                <a:solidFill>
                  <a:srgbClr val="E2E8F0"/>
                </a:solidFill>
              </a:defRPr>
            </a:pPr>
            <a:r>
              <a:t>• Rating Cutoff Boost: Maintaining &gt;=4.20★ unlocks 3.4x organic discovery in store featured carousels.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503</Words>
  <Application>Microsoft Office PowerPoint</Application>
  <PresentationFormat>Custom</PresentationFormat>
  <Paragraphs>27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Computer junction</cp:lastModifiedBy>
  <cp:revision>3</cp:revision>
  <dcterms:created xsi:type="dcterms:W3CDTF">2013-01-27T09:14:16Z</dcterms:created>
  <dcterms:modified xsi:type="dcterms:W3CDTF">2026-10-19T17:59:23Z</dcterms:modified>
  <cp:category/>
</cp:coreProperties>
</file>